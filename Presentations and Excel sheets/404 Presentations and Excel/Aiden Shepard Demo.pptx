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Helvetica Neue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YrOOHPQAsqElvAYbuVlxgQkXK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bold.fntdata"/><Relationship Id="rId14" Type="http://schemas.openxmlformats.org/officeDocument/2006/relationships/font" Target="fonts/HelveticaNeue-regular.fntdata"/><Relationship Id="rId17" Type="http://schemas.openxmlformats.org/officeDocument/2006/relationships/font" Target="fonts/HelveticaNeue-boldItalic.fntdata"/><Relationship Id="rId16" Type="http://schemas.openxmlformats.org/officeDocument/2006/relationships/font" Target="fonts/HelveticaNeue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d1eb75d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1" name="Google Shape;61;g39d1eb75dd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d6e44873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Cloud server and database</a:t>
            </a:r>
            <a:endParaRPr/>
          </a:p>
        </p:txBody>
      </p:sp>
      <p:sp>
        <p:nvSpPr>
          <p:cNvPr id="72" name="Google Shape;72;g39d6e448734_1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9e8ecea8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99e8ecea8e_0_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5b70d5b0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a5b70d5b0c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5b70d5b0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a5b70d5b0c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9e8ecea8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399e8ecea8e_0_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9e8ecea8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99e8ecea8e_0_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1235b6b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1235b6b8e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5292777" y="2130426"/>
            <a:ext cx="5984823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4165601" y="3886200"/>
            <a:ext cx="7111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609600" y="1761067"/>
            <a:ext cx="10972800" cy="47336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LCOE_logo_HWHT.png" id="20" name="Google Shape;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00850"/>
            <a:ext cx="3236655" cy="5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1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1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6197600" y="1761067"/>
            <a:ext cx="5384800" cy="47336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" name="Google Shape;27;p12"/>
          <p:cNvSpPr txBox="1"/>
          <p:nvPr>
            <p:ph idx="2" type="body"/>
          </p:nvPr>
        </p:nvSpPr>
        <p:spPr>
          <a:xfrm>
            <a:off x="609600" y="1761067"/>
            <a:ext cx="5384800" cy="47336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609600" y="290064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609601" y="1066969"/>
            <a:ext cx="4011084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4766733" y="1073721"/>
            <a:ext cx="6815667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609601" y="1803850"/>
            <a:ext cx="4011084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type="title"/>
          </p:nvPr>
        </p:nvSpPr>
        <p:spPr>
          <a:xfrm>
            <a:off x="609600" y="1196430"/>
            <a:ext cx="3431563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" name="Google Shape;45;p15"/>
          <p:cNvSpPr/>
          <p:nvPr>
            <p:ph idx="2" type="pic"/>
          </p:nvPr>
        </p:nvSpPr>
        <p:spPr>
          <a:xfrm>
            <a:off x="4267200" y="1196431"/>
            <a:ext cx="7315200" cy="5298252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609600" y="1768044"/>
            <a:ext cx="3431563" cy="4726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jp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7576372" y="2130426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ECEN 403</a:t>
            </a:r>
            <a:br>
              <a:rPr lang="en-US"/>
            </a:br>
            <a:r>
              <a:rPr lang="en-US"/>
              <a:t>Demo</a:t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1655" y="796285"/>
            <a:ext cx="3093334" cy="52561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5528734" y="3725725"/>
            <a:ext cx="6536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-US"/>
              <a:t>Luggage Carrier and Tracker Team 1 </a:t>
            </a:r>
            <a:br>
              <a:rPr lang="en-US"/>
            </a:br>
            <a:r>
              <a:rPr lang="en-US"/>
              <a:t>Aiden Shepard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-US"/>
              <a:t>TA: Vishwam Raval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-US"/>
              <a:t>Professor: Stavros Kalafatis</a:t>
            </a:r>
            <a:br>
              <a:rPr lang="en-US"/>
            </a:br>
            <a:endParaRPr/>
          </a:p>
        </p:txBody>
      </p:sp>
      <p:sp>
        <p:nvSpPr>
          <p:cNvPr id="58" name="Google Shape;58;p1"/>
          <p:cNvSpPr txBox="1"/>
          <p:nvPr>
            <p:ph idx="12" type="sldNum"/>
          </p:nvPr>
        </p:nvSpPr>
        <p:spPr>
          <a:xfrm>
            <a:off x="807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g39d1eb75dd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796" y="4377375"/>
            <a:ext cx="4690574" cy="2606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39d1eb75dd0_0_0"/>
          <p:cNvSpPr txBox="1"/>
          <p:nvPr>
            <p:ph type="title"/>
          </p:nvPr>
        </p:nvSpPr>
        <p:spPr>
          <a:xfrm>
            <a:off x="-1219200" y="869517"/>
            <a:ext cx="146304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Summary</a:t>
            </a:r>
            <a:endParaRPr/>
          </a:p>
        </p:txBody>
      </p:sp>
      <p:sp>
        <p:nvSpPr>
          <p:cNvPr id="65" name="Google Shape;65;g39d1eb75dd0_0_0"/>
          <p:cNvSpPr txBox="1"/>
          <p:nvPr>
            <p:ph idx="1" type="body"/>
          </p:nvPr>
        </p:nvSpPr>
        <p:spPr>
          <a:xfrm>
            <a:off x="486300" y="1852875"/>
            <a:ext cx="6307500" cy="4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</a:t>
            </a: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tatement</a:t>
            </a: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In large airports, people with large, unconventional luggage face difficulties carrying it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No affordable, autonomous solution exists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Our Solution:</a:t>
            </a:r>
            <a:endParaRPr sz="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Autonomous luggage rover that follows the user, avoids obstacles, and carries at least 20 lbs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Tracks user for navigation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g39d1eb75dd0_0_0"/>
          <p:cNvSpPr txBox="1"/>
          <p:nvPr>
            <p:ph idx="12" type="sldNum"/>
          </p:nvPr>
        </p:nvSpPr>
        <p:spPr>
          <a:xfrm>
            <a:off x="14447520" y="6494683"/>
            <a:ext cx="995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" name="Google Shape;67;g39d1eb75dd0_0_0"/>
          <p:cNvPicPr preferRelativeResize="0"/>
          <p:nvPr/>
        </p:nvPicPr>
        <p:blipFill rotWithShape="1">
          <a:blip r:embed="rId4">
            <a:alphaModFix/>
          </a:blip>
          <a:srcRect b="0" l="0" r="0" t="77226"/>
          <a:stretch/>
        </p:blipFill>
        <p:spPr>
          <a:xfrm>
            <a:off x="7979225" y="3811128"/>
            <a:ext cx="3632400" cy="1489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g39d1eb75dd0_0_0"/>
          <p:cNvPicPr preferRelativeResize="0"/>
          <p:nvPr/>
        </p:nvPicPr>
        <p:blipFill rotWithShape="1">
          <a:blip r:embed="rId4">
            <a:alphaModFix/>
          </a:blip>
          <a:srcRect b="73687" l="0" r="0" t="0"/>
          <a:stretch/>
        </p:blipFill>
        <p:spPr>
          <a:xfrm>
            <a:off x="7979225" y="2089725"/>
            <a:ext cx="3632400" cy="172140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9d1eb75dd0_0_0"/>
          <p:cNvSpPr txBox="1"/>
          <p:nvPr/>
        </p:nvSpPr>
        <p:spPr>
          <a:xfrm>
            <a:off x="7979225" y="5210950"/>
            <a:ext cx="421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Figure1: Passenger complaints at Heathrow Airport </a:t>
            </a:r>
            <a:endParaRPr b="0" i="1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CAA Passenger Survey Report 2018 (Heathrow / Gatwick / Stansted), UK Civil Aviation Authority, 2019.</a:t>
            </a:r>
            <a:endParaRPr b="0" i="1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g39d6e448734_1_5" title="Diagr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9150" y="1301750"/>
            <a:ext cx="8133699" cy="50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9e8ecea8e_0_65"/>
          <p:cNvSpPr txBox="1"/>
          <p:nvPr>
            <p:ph type="title"/>
          </p:nvPr>
        </p:nvSpPr>
        <p:spPr>
          <a:xfrm>
            <a:off x="930000" y="876750"/>
            <a:ext cx="10332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8888"/>
              <a:buFont typeface="Arial"/>
              <a:buNone/>
            </a:pPr>
            <a:r>
              <a:rPr lang="en-US"/>
              <a:t>Engineering Design Accomplishments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9091"/>
              <a:buFont typeface="Arial"/>
              <a:buNone/>
            </a:pPr>
            <a:r>
              <a:rPr b="0" lang="en-US" sz="2933"/>
              <a:t>Power and Instrumentation - Aiden Shepard</a:t>
            </a:r>
            <a:endParaRPr b="0" sz="2933"/>
          </a:p>
        </p:txBody>
      </p:sp>
      <p:sp>
        <p:nvSpPr>
          <p:cNvPr id="80" name="Google Shape;80;g399e8ecea8e_0_65"/>
          <p:cNvSpPr txBox="1"/>
          <p:nvPr>
            <p:ph idx="1" type="body"/>
          </p:nvPr>
        </p:nvSpPr>
        <p:spPr>
          <a:xfrm>
            <a:off x="563125" y="3962420"/>
            <a:ext cx="109728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500" u="sng"/>
              <a:t>403 Accomplishments</a:t>
            </a:r>
            <a:endParaRPr b="1" sz="2500" u="sng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Buck Converter (24 V to 5 V &amp; 3.3 V) designed, assembled, and tested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Completed motor driver logic and power troubleshooting and verified logic inputs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Instrumentation/sensor suite selected and designed for obstacle, tracking, and weight detection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Instrumentation power draw testing</a:t>
            </a:r>
            <a:endParaRPr sz="2200"/>
          </a:p>
        </p:txBody>
      </p:sp>
      <p:sp>
        <p:nvSpPr>
          <p:cNvPr id="81" name="Google Shape;81;g399e8ecea8e_0_65"/>
          <p:cNvSpPr/>
          <p:nvPr/>
        </p:nvSpPr>
        <p:spPr>
          <a:xfrm>
            <a:off x="3468963" y="2048867"/>
            <a:ext cx="4168500" cy="172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350" lIns="26725" spcFirstLastPara="1" rIns="26725" wrap="square" tIns="13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"/>
              <a:buFont typeface="Arial"/>
              <a:buNone/>
            </a:pPr>
            <a:r>
              <a:t/>
            </a:r>
            <a:endParaRPr b="0" i="0" sz="5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99e8ecea8e_0_65"/>
          <p:cNvSpPr txBox="1"/>
          <p:nvPr/>
        </p:nvSpPr>
        <p:spPr>
          <a:xfrm>
            <a:off x="8125140" y="2114582"/>
            <a:ext cx="5058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" lIns="7975" spcFirstLastPara="1" rIns="7975" wrap="square" tIns="4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2"/>
              <a:buFont typeface="Arial"/>
              <a:buNone/>
            </a:pPr>
            <a:r>
              <a:rPr b="1" i="0" lang="en-US" sz="7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ESP32</a:t>
            </a:r>
            <a:endParaRPr b="1" i="0" sz="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99e8ecea8e_0_65"/>
          <p:cNvSpPr txBox="1"/>
          <p:nvPr/>
        </p:nvSpPr>
        <p:spPr>
          <a:xfrm>
            <a:off x="4978889" y="1908267"/>
            <a:ext cx="16572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5" lIns="14850" spcFirstLastPara="1" rIns="14850" wrap="square" tIns="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8"/>
              <a:buFont typeface="Arial"/>
              <a:buNone/>
            </a:pPr>
            <a:r>
              <a:rPr b="1" i="0" lang="en-US" sz="74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Instrumentation &amp; Power One-Line</a:t>
            </a:r>
            <a:endParaRPr b="1" i="0" sz="7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99e8ecea8e_0_65"/>
          <p:cNvSpPr txBox="1"/>
          <p:nvPr/>
        </p:nvSpPr>
        <p:spPr>
          <a:xfrm>
            <a:off x="3597107" y="2481974"/>
            <a:ext cx="627300" cy="143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25" lIns="35425" spcFirstLastPara="1" rIns="35425" wrap="square" tIns="17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b="0" i="0" lang="en-US" sz="6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Batteries</a:t>
            </a:r>
            <a:endParaRPr b="0" i="0" sz="5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99e8ecea8e_0_65"/>
          <p:cNvSpPr txBox="1"/>
          <p:nvPr/>
        </p:nvSpPr>
        <p:spPr>
          <a:xfrm>
            <a:off x="4589991" y="2173166"/>
            <a:ext cx="1211400" cy="143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25" lIns="35425" spcFirstLastPara="1" rIns="35425" wrap="square" tIns="17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b="0" i="0" lang="en-US" sz="6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Sabertooth Motor Driver</a:t>
            </a:r>
            <a:endParaRPr b="0" i="0" sz="5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99e8ecea8e_0_65"/>
          <p:cNvSpPr txBox="1"/>
          <p:nvPr/>
        </p:nvSpPr>
        <p:spPr>
          <a:xfrm>
            <a:off x="4596790" y="2654128"/>
            <a:ext cx="1059600" cy="357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25" lIns="35425" spcFirstLastPara="1" rIns="35425" wrap="square" tIns="17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t/>
            </a:r>
            <a:endParaRPr b="0" i="0" sz="6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b="0" i="0" lang="en-US" sz="6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Buck Converter PCB </a:t>
            </a:r>
            <a:endParaRPr b="0" i="0" sz="6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t/>
            </a:r>
            <a:endParaRPr b="0" i="0" sz="6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99e8ecea8e_0_65"/>
          <p:cNvSpPr txBox="1"/>
          <p:nvPr/>
        </p:nvSpPr>
        <p:spPr>
          <a:xfrm>
            <a:off x="6304002" y="2793899"/>
            <a:ext cx="1059600" cy="143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25" lIns="35425" spcFirstLastPara="1" rIns="35425" wrap="square" tIns="17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b="0" i="0" lang="en-US" sz="6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360 LiDAR</a:t>
            </a:r>
            <a:endParaRPr b="0" i="0" sz="5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99e8ecea8e_0_65"/>
          <p:cNvSpPr txBox="1"/>
          <p:nvPr/>
        </p:nvSpPr>
        <p:spPr>
          <a:xfrm>
            <a:off x="6304002" y="2582867"/>
            <a:ext cx="1059600" cy="143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25" lIns="35425" spcFirstLastPara="1" rIns="35425" wrap="square" tIns="17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b="0" i="0" lang="en-US" sz="6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Ultrasonic Sensors</a:t>
            </a:r>
            <a:endParaRPr b="0" i="0" sz="5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99e8ecea8e_0_65"/>
          <p:cNvSpPr txBox="1"/>
          <p:nvPr/>
        </p:nvSpPr>
        <p:spPr>
          <a:xfrm>
            <a:off x="6304012" y="3239511"/>
            <a:ext cx="1059600" cy="143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25" lIns="35425" spcFirstLastPara="1" rIns="35425" wrap="square" tIns="17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b="0" i="0" lang="en-US" sz="6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Alarm System</a:t>
            </a:r>
            <a:endParaRPr b="0" i="0" sz="5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99e8ecea8e_0_65"/>
          <p:cNvSpPr txBox="1"/>
          <p:nvPr/>
        </p:nvSpPr>
        <p:spPr>
          <a:xfrm>
            <a:off x="6304004" y="2376267"/>
            <a:ext cx="1059600" cy="143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25" lIns="35425" spcFirstLastPara="1" rIns="35425" wrap="square" tIns="17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b="0" i="0" lang="en-US" sz="6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 Cells</a:t>
            </a:r>
            <a:endParaRPr b="0" i="0" sz="5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99e8ecea8e_0_65"/>
          <p:cNvSpPr/>
          <p:nvPr/>
        </p:nvSpPr>
        <p:spPr>
          <a:xfrm>
            <a:off x="7886616" y="2048828"/>
            <a:ext cx="776100" cy="172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7975" lIns="15975" spcFirstLastPara="1" rIns="15975" wrap="square" tIns="7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"/>
              <a:buFont typeface="Arial"/>
              <a:buNone/>
            </a:pPr>
            <a:r>
              <a:t/>
            </a:r>
            <a:endParaRPr b="0" i="0" sz="3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99e8ecea8e_0_65"/>
          <p:cNvSpPr txBox="1"/>
          <p:nvPr/>
        </p:nvSpPr>
        <p:spPr>
          <a:xfrm>
            <a:off x="6304004" y="2170970"/>
            <a:ext cx="1059600" cy="143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25" lIns="35425" spcFirstLastPara="1" rIns="35425" wrap="square" tIns="17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b="0" i="0" lang="en-US" sz="6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4x DC Motors</a:t>
            </a:r>
            <a:endParaRPr b="0" i="0" sz="5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g399e8ecea8e_0_65"/>
          <p:cNvCxnSpPr>
            <a:stCxn id="84" idx="3"/>
          </p:cNvCxnSpPr>
          <p:nvPr/>
        </p:nvCxnSpPr>
        <p:spPr>
          <a:xfrm>
            <a:off x="4224407" y="2553524"/>
            <a:ext cx="285600" cy="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g399e8ecea8e_0_65"/>
          <p:cNvCxnSpPr/>
          <p:nvPr/>
        </p:nvCxnSpPr>
        <p:spPr>
          <a:xfrm rot="10800000">
            <a:off x="4505042" y="2248319"/>
            <a:ext cx="1200" cy="314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g399e8ecea8e_0_65"/>
          <p:cNvCxnSpPr>
            <a:endCxn id="85" idx="1"/>
          </p:cNvCxnSpPr>
          <p:nvPr/>
        </p:nvCxnSpPr>
        <p:spPr>
          <a:xfrm>
            <a:off x="4504791" y="2244416"/>
            <a:ext cx="85200" cy="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g399e8ecea8e_0_65"/>
          <p:cNvCxnSpPr/>
          <p:nvPr/>
        </p:nvCxnSpPr>
        <p:spPr>
          <a:xfrm rot="10800000">
            <a:off x="4505491" y="2560314"/>
            <a:ext cx="4500" cy="291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g399e8ecea8e_0_65"/>
          <p:cNvCxnSpPr/>
          <p:nvPr/>
        </p:nvCxnSpPr>
        <p:spPr>
          <a:xfrm>
            <a:off x="4512876" y="2848498"/>
            <a:ext cx="81300" cy="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g399e8ecea8e_0_65"/>
          <p:cNvCxnSpPr/>
          <p:nvPr/>
        </p:nvCxnSpPr>
        <p:spPr>
          <a:xfrm rot="10800000">
            <a:off x="5984118" y="2443812"/>
            <a:ext cx="3300" cy="454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g399e8ecea8e_0_65"/>
          <p:cNvCxnSpPr>
            <a:endCxn id="90" idx="1"/>
          </p:cNvCxnSpPr>
          <p:nvPr/>
        </p:nvCxnSpPr>
        <p:spPr>
          <a:xfrm flipH="1" rot="10800000">
            <a:off x="5988104" y="2447817"/>
            <a:ext cx="315900" cy="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g399e8ecea8e_0_65"/>
          <p:cNvCxnSpPr/>
          <p:nvPr/>
        </p:nvCxnSpPr>
        <p:spPr>
          <a:xfrm>
            <a:off x="5988424" y="2654128"/>
            <a:ext cx="314100" cy="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g399e8ecea8e_0_65"/>
          <p:cNvCxnSpPr>
            <a:endCxn id="89" idx="1"/>
          </p:cNvCxnSpPr>
          <p:nvPr/>
        </p:nvCxnSpPr>
        <p:spPr>
          <a:xfrm flipH="1" rot="10800000">
            <a:off x="5810812" y="3311061"/>
            <a:ext cx="493200" cy="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g399e8ecea8e_0_65"/>
          <p:cNvCxnSpPr/>
          <p:nvPr/>
        </p:nvCxnSpPr>
        <p:spPr>
          <a:xfrm flipH="1" rot="10800000">
            <a:off x="5984156" y="2896478"/>
            <a:ext cx="320100" cy="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g399e8ecea8e_0_65"/>
          <p:cNvCxnSpPr/>
          <p:nvPr/>
        </p:nvCxnSpPr>
        <p:spPr>
          <a:xfrm>
            <a:off x="5656176" y="2789780"/>
            <a:ext cx="332100" cy="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g399e8ecea8e_0_65"/>
          <p:cNvCxnSpPr>
            <a:stCxn id="85" idx="3"/>
            <a:endCxn id="92" idx="1"/>
          </p:cNvCxnSpPr>
          <p:nvPr/>
        </p:nvCxnSpPr>
        <p:spPr>
          <a:xfrm flipH="1" rot="10800000">
            <a:off x="5801391" y="2242616"/>
            <a:ext cx="502500" cy="2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g399e8ecea8e_0_65"/>
          <p:cNvCxnSpPr>
            <a:endCxn id="90" idx="3"/>
          </p:cNvCxnSpPr>
          <p:nvPr/>
        </p:nvCxnSpPr>
        <p:spPr>
          <a:xfrm flipH="1">
            <a:off x="7363604" y="2446317"/>
            <a:ext cx="573300" cy="1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g399e8ecea8e_0_65"/>
          <p:cNvCxnSpPr>
            <a:endCxn id="88" idx="3"/>
          </p:cNvCxnSpPr>
          <p:nvPr/>
        </p:nvCxnSpPr>
        <p:spPr>
          <a:xfrm rot="10800000">
            <a:off x="7363602" y="2654417"/>
            <a:ext cx="582600" cy="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g399e8ecea8e_0_65"/>
          <p:cNvCxnSpPr/>
          <p:nvPr/>
        </p:nvCxnSpPr>
        <p:spPr>
          <a:xfrm rot="10800000">
            <a:off x="7359516" y="3310572"/>
            <a:ext cx="580500" cy="1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g399e8ecea8e_0_65"/>
          <p:cNvCxnSpPr/>
          <p:nvPr/>
        </p:nvCxnSpPr>
        <p:spPr>
          <a:xfrm rot="10800000">
            <a:off x="7357548" y="2865165"/>
            <a:ext cx="574500" cy="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g399e8ecea8e_0_65"/>
          <p:cNvSpPr txBox="1"/>
          <p:nvPr/>
        </p:nvSpPr>
        <p:spPr>
          <a:xfrm>
            <a:off x="4551729" y="2447273"/>
            <a:ext cx="3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875" lIns="37875" spcFirstLastPara="1" rIns="37875" wrap="square" tIns="37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4"/>
              <a:buFont typeface="Arial"/>
              <a:buNone/>
            </a:pPr>
            <a:r>
              <a:rPr b="0" i="0" lang="en-US" sz="7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24V</a:t>
            </a:r>
            <a:endParaRPr b="0" i="0" sz="7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99e8ecea8e_0_65"/>
          <p:cNvSpPr/>
          <p:nvPr/>
        </p:nvSpPr>
        <p:spPr>
          <a:xfrm>
            <a:off x="8309033" y="2036336"/>
            <a:ext cx="414000" cy="20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7875" lIns="37875" spcFirstLastPara="1" rIns="37875" wrap="square" tIns="37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"/>
              <a:buFont typeface="Arial"/>
              <a:buNone/>
            </a:pPr>
            <a:r>
              <a:t/>
            </a:r>
            <a:endParaRPr b="0" i="0" sz="5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99e8ecea8e_0_65"/>
          <p:cNvSpPr txBox="1"/>
          <p:nvPr/>
        </p:nvSpPr>
        <p:spPr>
          <a:xfrm>
            <a:off x="6297935" y="3007434"/>
            <a:ext cx="1059600" cy="143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25" lIns="35425" spcFirstLastPara="1" rIns="35425" wrap="square" tIns="17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b="0" i="0" lang="en-US" sz="6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Ultra-Wideband </a:t>
            </a:r>
            <a:endParaRPr b="0" i="0" sz="5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g399e8ecea8e_0_65"/>
          <p:cNvCxnSpPr/>
          <p:nvPr/>
        </p:nvCxnSpPr>
        <p:spPr>
          <a:xfrm rot="10800000">
            <a:off x="7359591" y="3079215"/>
            <a:ext cx="580500" cy="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g399e8ecea8e_0_65"/>
          <p:cNvCxnSpPr/>
          <p:nvPr/>
        </p:nvCxnSpPr>
        <p:spPr>
          <a:xfrm flipH="1" rot="10800000">
            <a:off x="5658411" y="2884167"/>
            <a:ext cx="146400" cy="1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g399e8ecea8e_0_65"/>
          <p:cNvCxnSpPr/>
          <p:nvPr/>
        </p:nvCxnSpPr>
        <p:spPr>
          <a:xfrm>
            <a:off x="5807040" y="2880698"/>
            <a:ext cx="900" cy="594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g399e8ecea8e_0_65"/>
          <p:cNvCxnSpPr/>
          <p:nvPr/>
        </p:nvCxnSpPr>
        <p:spPr>
          <a:xfrm rot="10800000">
            <a:off x="5803344" y="3471786"/>
            <a:ext cx="2132700" cy="2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g399e8ecea8e_0_65"/>
          <p:cNvCxnSpPr>
            <a:stCxn id="111" idx="1"/>
          </p:cNvCxnSpPr>
          <p:nvPr/>
        </p:nvCxnSpPr>
        <p:spPr>
          <a:xfrm flipH="1">
            <a:off x="5806535" y="3078984"/>
            <a:ext cx="4914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g399e8ecea8e_0_65"/>
          <p:cNvSpPr txBox="1"/>
          <p:nvPr/>
        </p:nvSpPr>
        <p:spPr>
          <a:xfrm>
            <a:off x="5469031" y="2822312"/>
            <a:ext cx="228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875" lIns="37875" spcFirstLastPara="1" rIns="37875" wrap="square" tIns="37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2"/>
              <a:buFont typeface="Arial"/>
              <a:buNone/>
            </a:pPr>
            <a:r>
              <a:rPr b="0" i="0" lang="en-US" sz="49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3.3V</a:t>
            </a:r>
            <a:endParaRPr b="0" i="0" sz="49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g399e8ecea8e_0_65"/>
          <p:cNvCxnSpPr>
            <a:endCxn id="92" idx="3"/>
          </p:cNvCxnSpPr>
          <p:nvPr/>
        </p:nvCxnSpPr>
        <p:spPr>
          <a:xfrm rot="10800000">
            <a:off x="7363604" y="2242520"/>
            <a:ext cx="573300" cy="5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g399e8ecea8e_0_65"/>
          <p:cNvSpPr txBox="1"/>
          <p:nvPr/>
        </p:nvSpPr>
        <p:spPr>
          <a:xfrm>
            <a:off x="7097846" y="2156607"/>
            <a:ext cx="27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875" lIns="37875" spcFirstLastPara="1" rIns="37875" wrap="square" tIns="37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4"/>
              <a:buFont typeface="Arial"/>
              <a:buNone/>
            </a:pPr>
            <a:r>
              <a:rPr b="0" i="0" lang="en-US" sz="7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A</a:t>
            </a:r>
            <a:endParaRPr b="0" i="0" sz="7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99e8ecea8e_0_65"/>
          <p:cNvSpPr txBox="1"/>
          <p:nvPr/>
        </p:nvSpPr>
        <p:spPr>
          <a:xfrm>
            <a:off x="7097846" y="2359088"/>
            <a:ext cx="27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875" lIns="37875" spcFirstLastPara="1" rIns="37875" wrap="square" tIns="37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4"/>
              <a:buFont typeface="Arial"/>
              <a:buNone/>
            </a:pPr>
            <a:r>
              <a:rPr b="0" i="0" lang="en-US" sz="7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.1 A</a:t>
            </a:r>
            <a:endParaRPr b="0" i="0" sz="7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99e8ecea8e_0_65"/>
          <p:cNvSpPr txBox="1"/>
          <p:nvPr/>
        </p:nvSpPr>
        <p:spPr>
          <a:xfrm>
            <a:off x="7063166" y="2558857"/>
            <a:ext cx="3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875" lIns="37875" spcFirstLastPara="1" rIns="37875" wrap="square" tIns="37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4"/>
              <a:buFont typeface="Arial"/>
              <a:buNone/>
            </a:pPr>
            <a:r>
              <a:rPr b="0" i="0" lang="en-US" sz="7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.05 A</a:t>
            </a:r>
            <a:endParaRPr b="0" i="0" sz="7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99e8ecea8e_0_65"/>
          <p:cNvSpPr txBox="1"/>
          <p:nvPr/>
        </p:nvSpPr>
        <p:spPr>
          <a:xfrm>
            <a:off x="7102489" y="2767149"/>
            <a:ext cx="27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875" lIns="37875" spcFirstLastPara="1" rIns="37875" wrap="square" tIns="37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4"/>
              <a:buFont typeface="Arial"/>
              <a:buNone/>
            </a:pPr>
            <a:r>
              <a:rPr b="0" i="0" lang="en-US" sz="7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.5 A</a:t>
            </a:r>
            <a:endParaRPr b="0" i="0" sz="7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99e8ecea8e_0_65"/>
          <p:cNvSpPr txBox="1"/>
          <p:nvPr/>
        </p:nvSpPr>
        <p:spPr>
          <a:xfrm>
            <a:off x="7060488" y="3218735"/>
            <a:ext cx="33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875" lIns="37875" spcFirstLastPara="1" rIns="37875" wrap="square" tIns="37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4"/>
              <a:buFont typeface="Arial"/>
              <a:buNone/>
            </a:pPr>
            <a:r>
              <a:rPr b="0" i="0" lang="en-US" sz="7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.03 A</a:t>
            </a:r>
            <a:endParaRPr b="0" i="0" sz="7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99e8ecea8e_0_65"/>
          <p:cNvSpPr txBox="1"/>
          <p:nvPr/>
        </p:nvSpPr>
        <p:spPr>
          <a:xfrm>
            <a:off x="7102489" y="3471660"/>
            <a:ext cx="27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875" lIns="37875" spcFirstLastPara="1" rIns="37875" wrap="square" tIns="37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4"/>
              <a:buFont typeface="Arial"/>
              <a:buNone/>
            </a:pPr>
            <a:r>
              <a:rPr b="0" i="0" lang="en-US" sz="7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.5A</a:t>
            </a:r>
            <a:endParaRPr b="0" i="0" sz="7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99e8ecea8e_0_65"/>
          <p:cNvSpPr txBox="1"/>
          <p:nvPr/>
        </p:nvSpPr>
        <p:spPr>
          <a:xfrm>
            <a:off x="7102489" y="2993030"/>
            <a:ext cx="27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875" lIns="37875" spcFirstLastPara="1" rIns="37875" wrap="square" tIns="37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4"/>
              <a:buFont typeface="Arial"/>
              <a:buNone/>
            </a:pPr>
            <a:r>
              <a:rPr b="0" i="0" lang="en-US" sz="7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.1 A</a:t>
            </a:r>
            <a:endParaRPr b="0" i="0" sz="7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99e8ecea8e_0_65"/>
          <p:cNvSpPr txBox="1"/>
          <p:nvPr/>
        </p:nvSpPr>
        <p:spPr>
          <a:xfrm>
            <a:off x="5519404" y="2156603"/>
            <a:ext cx="3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875" lIns="37875" spcFirstLastPara="1" rIns="37875" wrap="square" tIns="37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4"/>
              <a:buFont typeface="Arial"/>
              <a:buNone/>
            </a:pPr>
            <a:r>
              <a:rPr b="0" i="0" lang="en-US" sz="7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.05 A</a:t>
            </a:r>
            <a:endParaRPr b="0" i="0" sz="7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99e8ecea8e_0_65"/>
          <p:cNvSpPr txBox="1"/>
          <p:nvPr/>
        </p:nvSpPr>
        <p:spPr>
          <a:xfrm>
            <a:off x="5588755" y="2991040"/>
            <a:ext cx="2706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875" lIns="37875" spcFirstLastPara="1" rIns="37875" wrap="square" tIns="37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8"/>
              <a:buFont typeface="Arial"/>
              <a:buNone/>
            </a:pPr>
            <a:r>
              <a:rPr b="0" i="0" lang="en-US" sz="5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.63A</a:t>
            </a:r>
            <a:endParaRPr b="0" i="0" sz="5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g399e8ecea8e_0_65"/>
          <p:cNvCxnSpPr/>
          <p:nvPr/>
        </p:nvCxnSpPr>
        <p:spPr>
          <a:xfrm flipH="1" rot="10800000">
            <a:off x="5679513" y="2914657"/>
            <a:ext cx="123900" cy="1800"/>
          </a:xfrm>
          <a:prstGeom prst="straightConnector1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" name="Google Shape;129;g399e8ecea8e_0_65"/>
          <p:cNvSpPr txBox="1"/>
          <p:nvPr/>
        </p:nvSpPr>
        <p:spPr>
          <a:xfrm>
            <a:off x="5651410" y="2613426"/>
            <a:ext cx="2706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875" lIns="37875" spcFirstLastPara="1" rIns="37875" wrap="square" tIns="37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8"/>
              <a:buFont typeface="Arial"/>
              <a:buNone/>
            </a:pPr>
            <a:r>
              <a:rPr b="0" i="0" lang="en-US" sz="5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.65A</a:t>
            </a:r>
            <a:endParaRPr b="0" i="0" sz="5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99e8ecea8e_0_65"/>
          <p:cNvSpPr txBox="1"/>
          <p:nvPr/>
        </p:nvSpPr>
        <p:spPr>
          <a:xfrm>
            <a:off x="5519404" y="2679512"/>
            <a:ext cx="203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875" lIns="37875" spcFirstLastPara="1" rIns="37875" wrap="square" tIns="37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2"/>
              <a:buFont typeface="Arial"/>
              <a:buNone/>
            </a:pPr>
            <a:r>
              <a:rPr b="0" i="0" lang="en-US" sz="49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5V</a:t>
            </a:r>
            <a:endParaRPr b="0" i="0" sz="49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99e8ecea8e_0_65"/>
          <p:cNvSpPr txBox="1"/>
          <p:nvPr/>
        </p:nvSpPr>
        <p:spPr>
          <a:xfrm>
            <a:off x="4178801" y="2362775"/>
            <a:ext cx="3768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875" lIns="37875" spcFirstLastPara="1" rIns="37875" wrap="square" tIns="37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8"/>
              <a:buFont typeface="Arial"/>
              <a:buNone/>
            </a:pPr>
            <a:r>
              <a:rPr b="0" i="0" lang="en-US" sz="5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12.3A</a:t>
            </a:r>
            <a:endParaRPr b="0" i="0" sz="5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g399e8ecea8e_0_65"/>
          <p:cNvCxnSpPr/>
          <p:nvPr/>
        </p:nvCxnSpPr>
        <p:spPr>
          <a:xfrm>
            <a:off x="4326538" y="2528883"/>
            <a:ext cx="123000" cy="1200"/>
          </a:xfrm>
          <a:prstGeom prst="straightConnector1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" name="Google Shape;133;g399e8ecea8e_0_65"/>
          <p:cNvCxnSpPr/>
          <p:nvPr/>
        </p:nvCxnSpPr>
        <p:spPr>
          <a:xfrm flipH="1" rot="10800000">
            <a:off x="5684990" y="2755602"/>
            <a:ext cx="123900" cy="1800"/>
          </a:xfrm>
          <a:prstGeom prst="straightConnector1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" name="Google Shape;134;g399e8ecea8e_0_65"/>
          <p:cNvSpPr txBox="1"/>
          <p:nvPr/>
        </p:nvSpPr>
        <p:spPr>
          <a:xfrm>
            <a:off x="7995980" y="1887250"/>
            <a:ext cx="3396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5" lIns="14850" spcFirstLastPara="1" rIns="14850" wrap="square" tIns="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8"/>
              <a:buFont typeface="Arial"/>
              <a:buNone/>
            </a:pPr>
            <a:r>
              <a:rPr b="1" i="0" lang="en-US" sz="74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ESP32</a:t>
            </a:r>
            <a:endParaRPr b="1" i="0" sz="7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99e8ecea8e_0_65"/>
          <p:cNvSpPr txBox="1"/>
          <p:nvPr/>
        </p:nvSpPr>
        <p:spPr>
          <a:xfrm>
            <a:off x="4312667" y="2914655"/>
            <a:ext cx="3252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875" lIns="37875" spcFirstLastPara="1" rIns="37875" wrap="square" tIns="37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8"/>
              <a:buFont typeface="Arial"/>
              <a:buNone/>
            </a:pPr>
            <a:r>
              <a:rPr b="0" i="0" lang="en-US" sz="5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.256A</a:t>
            </a:r>
            <a:endParaRPr b="0" i="0" sz="5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g399e8ecea8e_0_65"/>
          <p:cNvCxnSpPr/>
          <p:nvPr/>
        </p:nvCxnSpPr>
        <p:spPr>
          <a:xfrm>
            <a:off x="4446238" y="2899783"/>
            <a:ext cx="123000" cy="1200"/>
          </a:xfrm>
          <a:prstGeom prst="straightConnector1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5b70d5b0c_0_10"/>
          <p:cNvSpPr txBox="1"/>
          <p:nvPr/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a5b70d5b0c_0_10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43" name="Google Shape;143;g3a5b70d5b0c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371" y="1868504"/>
            <a:ext cx="11203249" cy="241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a5b70d5b0c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271" y="4442725"/>
            <a:ext cx="3810050" cy="116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5b70d5b0c_0_62"/>
          <p:cNvSpPr txBox="1"/>
          <p:nvPr/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a5b70d5b0c_0_62"/>
          <p:cNvSpPr txBox="1"/>
          <p:nvPr>
            <p:ph type="title"/>
          </p:nvPr>
        </p:nvSpPr>
        <p:spPr>
          <a:xfrm>
            <a:off x="609600" y="73681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Validation plan</a:t>
            </a:r>
            <a:endParaRPr/>
          </a:p>
        </p:txBody>
      </p:sp>
      <p:pic>
        <p:nvPicPr>
          <p:cNvPr id="151" name="Google Shape;151;g3a5b70d5b0c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6425" y="6351200"/>
            <a:ext cx="1857112" cy="432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a5b70d5b0c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8463" y="1820454"/>
            <a:ext cx="9935069" cy="4450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9e8ecea8e_0_72"/>
          <p:cNvSpPr txBox="1"/>
          <p:nvPr>
            <p:ph type="title"/>
          </p:nvPr>
        </p:nvSpPr>
        <p:spPr>
          <a:xfrm>
            <a:off x="930000" y="876750"/>
            <a:ext cx="10332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8888"/>
              <a:buFont typeface="Arial"/>
              <a:buNone/>
            </a:pPr>
            <a:r>
              <a:rPr lang="en-US"/>
              <a:t>Engineering Design Accomplishments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9091"/>
              <a:buFont typeface="Arial"/>
              <a:buNone/>
            </a:pPr>
            <a:r>
              <a:rPr b="0" lang="en-US" sz="2933"/>
              <a:t>Buck Converter Design</a:t>
            </a:r>
            <a:endParaRPr b="0" sz="2933"/>
          </a:p>
        </p:txBody>
      </p:sp>
      <p:pic>
        <p:nvPicPr>
          <p:cNvPr id="158" name="Google Shape;158;g399e8ecea8e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025" y="1956638"/>
            <a:ext cx="4344674" cy="473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99e8ecea8e_0_72" title="PCB picture.jpg"/>
          <p:cNvPicPr preferRelativeResize="0"/>
          <p:nvPr/>
        </p:nvPicPr>
        <p:blipFill rotWithShape="1">
          <a:blip r:embed="rId4">
            <a:alphaModFix/>
          </a:blip>
          <a:srcRect b="0" l="0" r="0" t="20929"/>
          <a:stretch/>
        </p:blipFill>
        <p:spPr>
          <a:xfrm>
            <a:off x="6450175" y="1941800"/>
            <a:ext cx="4443794" cy="476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99e8ecea8e_0_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2625" y="1991000"/>
            <a:ext cx="2615625" cy="9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9e8ecea8e_0_80"/>
          <p:cNvSpPr txBox="1"/>
          <p:nvPr>
            <p:ph type="title"/>
          </p:nvPr>
        </p:nvSpPr>
        <p:spPr>
          <a:xfrm>
            <a:off x="930000" y="876750"/>
            <a:ext cx="10332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8888"/>
              <a:buFont typeface="Arial"/>
              <a:buNone/>
            </a:pPr>
            <a:r>
              <a:rPr lang="en-US"/>
              <a:t>Engineering Design Accomplishments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9091"/>
              <a:buFont typeface="Arial"/>
              <a:buNone/>
            </a:pPr>
            <a:r>
              <a:rPr b="0" lang="en-US" sz="2933"/>
              <a:t>Buck Converter Load Testing</a:t>
            </a:r>
            <a:endParaRPr b="0" sz="2933"/>
          </a:p>
        </p:txBody>
      </p:sp>
      <p:pic>
        <p:nvPicPr>
          <p:cNvPr id="166" name="Google Shape;166;g399e8ecea8e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8975" y="3921092"/>
            <a:ext cx="4066250" cy="22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99e8ecea8e_0_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7010" y="3756204"/>
            <a:ext cx="769620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99e8ecea8e_0_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900" y="2067375"/>
            <a:ext cx="10833001" cy="13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99e8ecea8e_0_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5900" y="5137900"/>
            <a:ext cx="5467449" cy="150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1235b6b8e_0_0"/>
          <p:cNvSpPr txBox="1"/>
          <p:nvPr>
            <p:ph type="title"/>
          </p:nvPr>
        </p:nvSpPr>
        <p:spPr>
          <a:xfrm>
            <a:off x="812800" y="846675"/>
            <a:ext cx="105567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8889"/>
              <a:buFont typeface="Arial"/>
              <a:buNone/>
            </a:pPr>
            <a:r>
              <a:rPr lang="en-US"/>
              <a:t>Remaining 404 Tasks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3386"/>
              <a:buFont typeface="Arial"/>
              <a:buNone/>
            </a:pPr>
            <a:r>
              <a:t/>
            </a:r>
            <a:endParaRPr b="0" sz="2822"/>
          </a:p>
        </p:txBody>
      </p:sp>
      <p:sp>
        <p:nvSpPr>
          <p:cNvPr id="175" name="Google Shape;175;g391235b6b8e_0_0"/>
          <p:cNvSpPr txBox="1"/>
          <p:nvPr>
            <p:ph idx="1" type="body"/>
          </p:nvPr>
        </p:nvSpPr>
        <p:spPr>
          <a:xfrm>
            <a:off x="609600" y="2090020"/>
            <a:ext cx="109728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/>
              <a:t>Mechanical &amp; Payload Integration</a:t>
            </a:r>
            <a:endParaRPr b="1" sz="2200" u="sng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Finalize and install payload structure with calibrated load cells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Integrate mechanical mounting for electronics bay, sensors, and batteries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/>
              <a:t>Electronics Bay &amp; Sensor Suite Integration</a:t>
            </a:r>
            <a:endParaRPr b="1" sz="2200" u="sng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Implement electronics bay for buck converter, LiDAR, ultrasonic, alarm module, and UWB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Validate clean, stable sensor data under full-system operation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/>
              <a:t>Control &amp; Autonomy Subsystem Collaboration</a:t>
            </a:r>
            <a:endParaRPr b="1" sz="2200" u="sng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Verify Sensor functionality 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Implement motor driver logic and motor functionality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Conduct end-to-end functional testing of tracking, payload, and obstacle detection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Nowka, Kevin J.</dc:creator>
</cp:coreProperties>
</file>